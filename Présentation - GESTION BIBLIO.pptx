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63" r:id="rId11"/>
    <p:sldId id="265" r:id="rId12"/>
    <p:sldId id="266" r:id="rId13"/>
  </p:sldIdLst>
  <p:sldSz cx="18288000" cy="10287000"/>
  <p:notesSz cx="6858000" cy="9144000"/>
  <p:embeddedFontLst>
    <p:embeddedFont>
      <p:font typeface="Carlito" panose="020B0604020202020204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Radley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964E4-C253-43FE-8BB1-FE252A143F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E99BE-6DD3-4964-9832-5C4A996E7A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460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E99BE-6DD3-4964-9832-5C4A996E7A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22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D4EB-5E52-A590-5892-67EA04E92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7F162B8-EC0A-DA44-E965-3BAB09A58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B0F5F1C-EE01-259C-BB14-AC8B5886C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24C656-36E0-8C2D-8203-2BB10DDC5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E99BE-6DD3-4964-9832-5C4A996E7A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8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81575" y="3906154"/>
            <a:ext cx="8324850" cy="6380846"/>
            <a:chOff x="0" y="0"/>
            <a:chExt cx="1289737" cy="988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9737" cy="988560"/>
            </a:xfrm>
            <a:custGeom>
              <a:avLst/>
              <a:gdLst/>
              <a:ahLst/>
              <a:cxnLst/>
              <a:rect l="l" t="t" r="r" b="b"/>
              <a:pathLst>
                <a:path w="1289737" h="988560">
                  <a:moveTo>
                    <a:pt x="0" y="0"/>
                  </a:moveTo>
                  <a:lnTo>
                    <a:pt x="1289737" y="0"/>
                  </a:lnTo>
                  <a:lnTo>
                    <a:pt x="1289737" y="988560"/>
                  </a:lnTo>
                  <a:lnTo>
                    <a:pt x="0" y="988560"/>
                  </a:lnTo>
                  <a:close/>
                </a:path>
              </a:pathLst>
            </a:custGeom>
            <a:blipFill>
              <a:blip r:embed="rId2"/>
              <a:stretch>
                <a:fillRect t="-3980" b="-398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6374981" y="1712742"/>
            <a:ext cx="24376143" cy="1697581"/>
            <a:chOff x="0" y="402377"/>
            <a:chExt cx="23217912" cy="4034167"/>
          </a:xfrm>
        </p:grpSpPr>
        <p:sp>
          <p:nvSpPr>
            <p:cNvPr id="5" name="AutoShape 5"/>
            <p:cNvSpPr/>
            <p:nvPr/>
          </p:nvSpPr>
          <p:spPr>
            <a:xfrm>
              <a:off x="0" y="2737155"/>
              <a:ext cx="22657955" cy="0"/>
            </a:xfrm>
            <a:prstGeom prst="line">
              <a:avLst/>
            </a:prstGeom>
            <a:ln w="2447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58280" y="402377"/>
              <a:ext cx="16959632" cy="4034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4009"/>
                </a:lnSpc>
              </a:pPr>
              <a:r>
                <a:rPr lang="en-US" sz="10000" u="none" spc="-280" dirty="0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Gestion de </a:t>
              </a:r>
              <a:r>
                <a:rPr lang="en-US" sz="10000" u="none" spc="-280" dirty="0" err="1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bibliotheque</a:t>
              </a:r>
              <a:endParaRPr lang="en-US" sz="10000" u="none" spc="-280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5664619" cy="1455401"/>
          </a:xfrm>
          <a:custGeom>
            <a:avLst/>
            <a:gdLst/>
            <a:ahLst/>
            <a:cxnLst/>
            <a:rect l="l" t="t" r="r" b="b"/>
            <a:pathLst>
              <a:path w="5664619" h="1455401">
                <a:moveTo>
                  <a:pt x="0" y="0"/>
                </a:moveTo>
                <a:lnTo>
                  <a:pt x="5664619" y="0"/>
                </a:lnTo>
                <a:lnTo>
                  <a:pt x="5664619" y="1455401"/>
                </a:lnTo>
                <a:lnTo>
                  <a:pt x="0" y="1455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78" r="-4786" b="-101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52601" y="8236744"/>
            <a:ext cx="3459550" cy="2050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19"/>
              </a:lnSpc>
            </a:pPr>
            <a:r>
              <a:rPr lang="en-US" sz="2442" spc="324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ENCADRE PAR: </a:t>
            </a:r>
          </a:p>
          <a:p>
            <a:pPr>
              <a:lnSpc>
                <a:spcPts val="4612"/>
              </a:lnSpc>
            </a:pPr>
            <a:r>
              <a:rPr lang="en-US" sz="3294" spc="438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PR MOUTTALIB HOUDA</a:t>
            </a:r>
          </a:p>
          <a:p>
            <a:pPr marL="0" lvl="0" indent="0" algn="r">
              <a:lnSpc>
                <a:spcPts val="3419"/>
              </a:lnSpc>
              <a:spcBef>
                <a:spcPct val="0"/>
              </a:spcBef>
            </a:pPr>
            <a:r>
              <a:rPr lang="en-US" sz="2442" spc="324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45256" cy="349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42323" y="7432735"/>
            <a:ext cx="3689605" cy="231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9"/>
              </a:lnSpc>
            </a:pPr>
            <a:r>
              <a:rPr lang="en-US" sz="3256" dirty="0" err="1">
                <a:solidFill>
                  <a:srgbClr val="000000"/>
                </a:solidFill>
                <a:latin typeface="Carlito" panose="020B0604020202020204" charset="0"/>
                <a:ea typeface="Open Sans"/>
                <a:cs typeface="Carlito" panose="020B0604020202020204" charset="0"/>
                <a:sym typeface="Open Sans"/>
              </a:rPr>
              <a:t>Presentee</a:t>
            </a:r>
            <a:r>
              <a:rPr lang="en-US" sz="3256" dirty="0">
                <a:solidFill>
                  <a:srgbClr val="000000"/>
                </a:solidFill>
                <a:latin typeface="Carlito" panose="020B0604020202020204" charset="0"/>
                <a:ea typeface="Open Sans"/>
                <a:cs typeface="Carlito" panose="020B0604020202020204" charset="0"/>
                <a:sym typeface="Open Sans"/>
              </a:rPr>
              <a:t> par: </a:t>
            </a:r>
          </a:p>
          <a:p>
            <a:pPr algn="ctr">
              <a:lnSpc>
                <a:spcPts val="4559"/>
              </a:lnSpc>
            </a:pPr>
            <a:r>
              <a:rPr lang="en-US" sz="3256" dirty="0">
                <a:solidFill>
                  <a:srgbClr val="000000"/>
                </a:solidFill>
                <a:latin typeface="Carlito" panose="020B0604020202020204" charset="0"/>
                <a:ea typeface="Open Sans"/>
                <a:cs typeface="Carlito" panose="020B0604020202020204" charset="0"/>
                <a:sym typeface="Open Sans"/>
              </a:rPr>
              <a:t>LAGHRABI YOUSRA</a:t>
            </a:r>
          </a:p>
          <a:p>
            <a:pPr algn="ctr">
              <a:lnSpc>
                <a:spcPts val="4559"/>
              </a:lnSpc>
            </a:pPr>
            <a:r>
              <a:rPr lang="en-US" sz="3256" dirty="0">
                <a:solidFill>
                  <a:srgbClr val="000000"/>
                </a:solidFill>
                <a:latin typeface="Carlito" panose="020B0604020202020204" charset="0"/>
                <a:ea typeface="Open Sans"/>
                <a:cs typeface="Carlito" panose="020B0604020202020204" charset="0"/>
                <a:sym typeface="Open Sans"/>
              </a:rPr>
              <a:t>AJDI SARAH</a:t>
            </a:r>
          </a:p>
          <a:p>
            <a:pPr algn="ctr">
              <a:lnSpc>
                <a:spcPts val="4559"/>
              </a:lnSpc>
            </a:pPr>
            <a:r>
              <a:rPr lang="en-US" sz="3256" dirty="0">
                <a:solidFill>
                  <a:srgbClr val="000000"/>
                </a:solidFill>
                <a:latin typeface="Carlito" panose="020B0604020202020204" charset="0"/>
                <a:ea typeface="Open Sans"/>
                <a:cs typeface="Carlito" panose="020B0604020202020204" charset="0"/>
                <a:sym typeface="Open Sans"/>
              </a:rPr>
              <a:t>SADKI SAFAE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, capture d’écran, Police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08DDFE6F-209F-6A97-658C-6BECA8CE56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3"/>
          <a:stretch>
            <a:fillRect/>
          </a:stretch>
        </p:blipFill>
        <p:spPr>
          <a:xfrm>
            <a:off x="0" y="2472512"/>
            <a:ext cx="18288000" cy="78822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4" name="Group 4"/>
          <p:cNvGrpSpPr/>
          <p:nvPr/>
        </p:nvGrpSpPr>
        <p:grpSpPr>
          <a:xfrm>
            <a:off x="290965" y="517063"/>
            <a:ext cx="16968335" cy="4981031"/>
            <a:chOff x="179055" y="208521"/>
            <a:chExt cx="22624446" cy="6641378"/>
          </a:xfrm>
        </p:grpSpPr>
        <p:sp>
          <p:nvSpPr>
            <p:cNvPr id="5" name="TextBox 5"/>
            <p:cNvSpPr txBox="1"/>
            <p:nvPr/>
          </p:nvSpPr>
          <p:spPr>
            <a:xfrm>
              <a:off x="9138301" y="208521"/>
              <a:ext cx="7518400" cy="11841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6737"/>
                </a:lnSpc>
                <a:spcBef>
                  <a:spcPct val="0"/>
                </a:spcBef>
              </a:pPr>
              <a:r>
                <a:rPr lang="en-US" sz="7200" dirty="0">
                  <a:solidFill>
                    <a:srgbClr val="000000"/>
                  </a:solidFill>
                  <a:latin typeface="Carlito" panose="020B0604020202020204" charset="0"/>
                  <a:ea typeface="Radley Italics"/>
                  <a:cs typeface="Carlito" panose="020B0604020202020204" charset="0"/>
                  <a:sym typeface="Radley Italics"/>
                </a:rPr>
                <a:t>Page du Login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698276" y="1561601"/>
              <a:ext cx="19105225" cy="6155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609"/>
                </a:lnSpc>
                <a:spcBef>
                  <a:spcPct val="0"/>
                </a:spcBef>
              </a:pPr>
              <a:r>
                <a:rPr lang="en-US" sz="3007" u="none" dirty="0" err="1">
                  <a:solidFill>
                    <a:srgbClr val="000000"/>
                  </a:solidFill>
                  <a:latin typeface="Carlito" panose="020B0604020202020204" charset="0"/>
                  <a:ea typeface="Radley"/>
                  <a:cs typeface="Carlito" panose="020B0604020202020204" charset="0"/>
                  <a:sym typeface="Radley"/>
                </a:rPr>
                <a:t>Explorez</a:t>
              </a:r>
              <a:r>
                <a:rPr lang="en-US" sz="3007" u="none" dirty="0">
                  <a:solidFill>
                    <a:srgbClr val="000000"/>
                  </a:solidFill>
                  <a:latin typeface="Carlito" panose="020B0604020202020204" charset="0"/>
                  <a:ea typeface="Radley"/>
                  <a:cs typeface="Carlito" panose="020B0604020202020204" charset="0"/>
                  <a:sym typeface="Radley"/>
                </a:rPr>
                <a:t> </a:t>
              </a:r>
              <a:r>
                <a:rPr lang="en-US" sz="3007" u="none" dirty="0" err="1">
                  <a:solidFill>
                    <a:srgbClr val="000000"/>
                  </a:solidFill>
                  <a:latin typeface="Carlito" panose="020B0604020202020204" charset="0"/>
                  <a:ea typeface="Radley"/>
                  <a:cs typeface="Carlito" panose="020B0604020202020204" charset="0"/>
                  <a:sym typeface="Radley"/>
                </a:rPr>
                <a:t>notre</a:t>
              </a:r>
              <a:r>
                <a:rPr lang="en-US" sz="3007" u="none" dirty="0">
                  <a:solidFill>
                    <a:srgbClr val="000000"/>
                  </a:solidFill>
                  <a:latin typeface="Carlito" panose="020B0604020202020204" charset="0"/>
                  <a:ea typeface="Radley"/>
                  <a:cs typeface="Carlito" panose="020B0604020202020204" charset="0"/>
                  <a:sym typeface="Radley"/>
                </a:rPr>
                <a:t> site web pour </a:t>
              </a:r>
              <a:r>
                <a:rPr lang="en-US" sz="3007" u="none" dirty="0" err="1">
                  <a:solidFill>
                    <a:srgbClr val="000000"/>
                  </a:solidFill>
                  <a:latin typeface="Carlito" panose="020B0604020202020204" charset="0"/>
                  <a:ea typeface="Radley"/>
                  <a:cs typeface="Carlito" panose="020B0604020202020204" charset="0"/>
                  <a:sym typeface="Radley"/>
                </a:rPr>
                <a:t>une</a:t>
              </a:r>
              <a:r>
                <a:rPr lang="en-US" sz="3007" u="none" dirty="0">
                  <a:solidFill>
                    <a:srgbClr val="000000"/>
                  </a:solidFill>
                  <a:latin typeface="Carlito" panose="020B0604020202020204" charset="0"/>
                  <a:ea typeface="Radley"/>
                  <a:cs typeface="Carlito" panose="020B0604020202020204" charset="0"/>
                  <a:sym typeface="Radley"/>
                </a:rPr>
                <a:t> </a:t>
              </a:r>
              <a:r>
                <a:rPr lang="en-US" sz="3007" u="none" dirty="0" err="1">
                  <a:solidFill>
                    <a:srgbClr val="000000"/>
                  </a:solidFill>
                  <a:latin typeface="Carlito" panose="020B0604020202020204" charset="0"/>
                  <a:ea typeface="Radley"/>
                  <a:cs typeface="Carlito" panose="020B0604020202020204" charset="0"/>
                  <a:sym typeface="Radley"/>
                </a:rPr>
                <a:t>expérience</a:t>
              </a:r>
              <a:r>
                <a:rPr lang="en-US" sz="3007" u="none" dirty="0">
                  <a:solidFill>
                    <a:srgbClr val="000000"/>
                  </a:solidFill>
                  <a:latin typeface="Carlito" panose="020B0604020202020204" charset="0"/>
                  <a:ea typeface="Radley"/>
                  <a:cs typeface="Carlito" panose="020B0604020202020204" charset="0"/>
                  <a:sym typeface="Radley"/>
                </a:rPr>
                <a:t> </a:t>
              </a:r>
              <a:r>
                <a:rPr lang="en-US" sz="3007" u="none" dirty="0" err="1">
                  <a:solidFill>
                    <a:srgbClr val="000000"/>
                  </a:solidFill>
                  <a:latin typeface="Carlito" panose="020B0604020202020204" charset="0"/>
                  <a:ea typeface="Radley"/>
                  <a:cs typeface="Carlito" panose="020B0604020202020204" charset="0"/>
                  <a:sym typeface="Radley"/>
                </a:rPr>
                <a:t>enrichissante</a:t>
              </a:r>
              <a:r>
                <a:rPr lang="en-US" sz="3007" u="none" dirty="0">
                  <a:solidFill>
                    <a:srgbClr val="000000"/>
                  </a:solidFill>
                  <a:latin typeface="Carlito" panose="020B0604020202020204" charset="0"/>
                  <a:ea typeface="Radley"/>
                  <a:cs typeface="Carlito" panose="020B0604020202020204" charset="0"/>
                  <a:sym typeface="Radley"/>
                </a:rPr>
                <a:t> et </a:t>
              </a:r>
              <a:r>
                <a:rPr lang="en-US" sz="3007" u="none" dirty="0" err="1">
                  <a:solidFill>
                    <a:srgbClr val="000000"/>
                  </a:solidFill>
                  <a:latin typeface="Carlito" panose="020B0604020202020204" charset="0"/>
                  <a:ea typeface="Radley"/>
                  <a:cs typeface="Carlito" panose="020B0604020202020204" charset="0"/>
                  <a:sym typeface="Radley"/>
                </a:rPr>
                <a:t>conviviale</a:t>
              </a:r>
              <a:endParaRPr lang="en-US" sz="3007" u="none" dirty="0">
                <a:solidFill>
                  <a:srgbClr val="000000"/>
                </a:solidFill>
                <a:latin typeface="Carlito" panose="020B0604020202020204" charset="0"/>
                <a:ea typeface="Radley"/>
                <a:cs typeface="Carlito" panose="020B0604020202020204" charset="0"/>
                <a:sym typeface="Radley"/>
              </a:endParaRPr>
            </a:p>
          </p:txBody>
        </p:sp>
        <p:sp>
          <p:nvSpPr>
            <p:cNvPr id="7" name="AutoShape 7"/>
            <p:cNvSpPr/>
            <p:nvPr/>
          </p:nvSpPr>
          <p:spPr>
            <a:xfrm>
              <a:off x="7512701" y="2414705"/>
              <a:ext cx="8263104" cy="0"/>
            </a:xfrm>
            <a:prstGeom prst="line">
              <a:avLst/>
            </a:prstGeom>
            <a:ln w="2182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9055" y="6214845"/>
              <a:ext cx="19105226" cy="635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6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0143" y="9184102"/>
            <a:ext cx="2164943" cy="2199009"/>
            <a:chOff x="1270" y="0"/>
            <a:chExt cx="810260" cy="822960"/>
          </a:xfrm>
        </p:grpSpPr>
        <p:sp>
          <p:nvSpPr>
            <p:cNvPr id="10" name="Freeform 10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7">
            <a:extLst>
              <a:ext uri="{FF2B5EF4-FFF2-40B4-BE49-F238E27FC236}">
                <a16:creationId xmlns:a16="http://schemas.microsoft.com/office/drawing/2014/main" id="{3A8D5CAA-3AD6-3051-477E-7675639D9478}"/>
              </a:ext>
            </a:extLst>
          </p:cNvPr>
          <p:cNvGrpSpPr/>
          <p:nvPr/>
        </p:nvGrpSpPr>
        <p:grpSpPr>
          <a:xfrm>
            <a:off x="-1085865" y="-205807"/>
            <a:ext cx="2171730" cy="2205796"/>
            <a:chOff x="0" y="0"/>
            <a:chExt cx="812800" cy="825500"/>
          </a:xfrm>
        </p:grpSpPr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93CFE04-EE86-F165-0D36-09443F8D6DFA}"/>
                </a:ext>
              </a:extLst>
            </p:cNvPr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25884BC6-79BB-B5BB-5512-C98C4571847B}"/>
                </a:ext>
              </a:extLst>
            </p:cNvPr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78073" y="2293132"/>
            <a:ext cx="7073239" cy="702102"/>
            <a:chOff x="0" y="2546772"/>
            <a:chExt cx="9430985" cy="936136"/>
          </a:xfrm>
        </p:grpSpPr>
        <p:sp>
          <p:nvSpPr>
            <p:cNvPr id="6" name="TextBox 6"/>
            <p:cNvSpPr txBox="1"/>
            <p:nvPr/>
          </p:nvSpPr>
          <p:spPr>
            <a:xfrm>
              <a:off x="25753" y="2930862"/>
              <a:ext cx="9405232" cy="55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2546772"/>
              <a:ext cx="9405232" cy="0"/>
            </a:xfrm>
            <a:prstGeom prst="line">
              <a:avLst/>
            </a:prstGeom>
            <a:ln w="20074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49635" y="8207789"/>
            <a:ext cx="2171730" cy="2205796"/>
            <a:chOff x="0" y="0"/>
            <a:chExt cx="812800" cy="825500"/>
          </a:xfrm>
        </p:grpSpPr>
        <p:sp>
          <p:nvSpPr>
            <p:cNvPr id="9" name="Freeform 9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67836" y="3891133"/>
            <a:ext cx="14352327" cy="3036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fr-FR" sz="3399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MI BIBLIO est une application backoffice de gestion bibliothécaire complète. Elle centralise la gestion des livres, auteurs, adhérents, emprunts et catégories à travers des fonctionnalités CRUD complètes, des tableaux avec recherche, filtres, tri et pagination, et un tableau de bord interactif avec statistiques et graphiques.</a:t>
            </a:r>
            <a:endParaRPr lang="en-US" sz="3399" dirty="0">
              <a:solidFill>
                <a:srgbClr val="000000"/>
              </a:solidFill>
              <a:latin typeface="Radley" panose="020B060402020202020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A11CB0DC-C8CF-C29E-4E8F-DFD0E66C2CD0}"/>
              </a:ext>
            </a:extLst>
          </p:cNvPr>
          <p:cNvSpPr txBox="1"/>
          <p:nvPr/>
        </p:nvSpPr>
        <p:spPr>
          <a:xfrm>
            <a:off x="914400" y="1118848"/>
            <a:ext cx="16252796" cy="100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200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Introduction</a:t>
            </a:r>
            <a:r>
              <a:rPr lang="en-US" sz="7000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 </a:t>
            </a:r>
          </a:p>
        </p:txBody>
      </p:sp>
      <p:grpSp>
        <p:nvGrpSpPr>
          <p:cNvPr id="16" name="Group 7">
            <a:extLst>
              <a:ext uri="{FF2B5EF4-FFF2-40B4-BE49-F238E27FC236}">
                <a16:creationId xmlns:a16="http://schemas.microsoft.com/office/drawing/2014/main" id="{46734C4A-0D7A-3882-17DE-C3CE81FFFF28}"/>
              </a:ext>
            </a:extLst>
          </p:cNvPr>
          <p:cNvGrpSpPr/>
          <p:nvPr/>
        </p:nvGrpSpPr>
        <p:grpSpPr>
          <a:xfrm>
            <a:off x="-1085865" y="-205807"/>
            <a:ext cx="2171730" cy="2205796"/>
            <a:chOff x="0" y="0"/>
            <a:chExt cx="812800" cy="825500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244C49D-D44A-AB76-96DF-FD0DC75ADED1}"/>
                </a:ext>
              </a:extLst>
            </p:cNvPr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144DE6C1-61C9-052D-9CD1-2C25C5B4D8BA}"/>
                </a:ext>
              </a:extLst>
            </p:cNvPr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texte, logiciel, Icône d’ordinateur, diagramme&#10;&#10;Le contenu généré par l’IA peut être incorrect.">
            <a:extLst>
              <a:ext uri="{FF2B5EF4-FFF2-40B4-BE49-F238E27FC236}">
                <a16:creationId xmlns:a16="http://schemas.microsoft.com/office/drawing/2014/main" id="{A597A792-DB3B-64FF-A0CE-52B70ABE5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765" y="2690626"/>
            <a:ext cx="12196834" cy="6842570"/>
          </a:xfrm>
          <a:prstGeom prst="round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938765" y="510284"/>
            <a:ext cx="6407467" cy="1004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 Page </a:t>
            </a:r>
            <a:r>
              <a:rPr lang="en-US" sz="7200" dirty="0" err="1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d'accueil</a:t>
            </a:r>
            <a:endParaRPr lang="en-US" sz="7200" dirty="0">
              <a:solidFill>
                <a:srgbClr val="000000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432734" y="1893070"/>
            <a:ext cx="4712929" cy="1421148"/>
            <a:chOff x="0" y="0"/>
            <a:chExt cx="6283905" cy="1894864"/>
          </a:xfrm>
        </p:grpSpPr>
        <p:sp>
          <p:nvSpPr>
            <p:cNvPr id="6" name="TextBox 6"/>
            <p:cNvSpPr txBox="1"/>
            <p:nvPr/>
          </p:nvSpPr>
          <p:spPr>
            <a:xfrm>
              <a:off x="0" y="1193789"/>
              <a:ext cx="6283905" cy="701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28"/>
                </a:lnSpc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6283905" cy="841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33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4800" y="2760744"/>
            <a:ext cx="5486400" cy="2410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La page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d’accueil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représente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le tableau de bord du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site.Elle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permet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d’avoir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une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vue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globale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et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rapide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sur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l’état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de la bibliothèque.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381000" y="5578527"/>
            <a:ext cx="6858000" cy="3632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Caractéristiques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principales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:</a:t>
            </a:r>
          </a:p>
          <a:p>
            <a:pPr marL="457200" indent="-457200" algn="ctr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Interface simple et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claire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Open Sans"/>
              <a:sym typeface="Open Sans"/>
            </a:endParaRPr>
          </a:p>
          <a:p>
            <a:pPr marL="457200" indent="-457200" algn="ctr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Accès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rapide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aux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différentes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fonctionnalités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Open Sans"/>
              <a:sym typeface="Open Sans"/>
            </a:endParaRPr>
          </a:p>
          <a:p>
            <a:pPr marL="457200" indent="-457200" algn="ctr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Statistiques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temps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réel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Open Sans"/>
              <a:sym typeface="Open Sans"/>
            </a:endParaRPr>
          </a:p>
          <a:p>
            <a:pPr marL="457200" indent="-457200" algn="ctr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Navigation facile</a:t>
            </a:r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F121F0AB-B293-D3E5-2BC2-3E0D32687D41}"/>
              </a:ext>
            </a:extLst>
          </p:cNvPr>
          <p:cNvGrpSpPr/>
          <p:nvPr/>
        </p:nvGrpSpPr>
        <p:grpSpPr>
          <a:xfrm>
            <a:off x="-1085865" y="-205807"/>
            <a:ext cx="2171730" cy="2205796"/>
            <a:chOff x="0" y="0"/>
            <a:chExt cx="812800" cy="825500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8FC7B9D-9B6F-495B-5C32-257150656517}"/>
                </a:ext>
              </a:extLst>
            </p:cNvPr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B90A69B4-2929-57B4-C11F-D68FC6169FC3}"/>
                </a:ext>
              </a:extLst>
            </p:cNvPr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56E70D2E-9235-7E9E-0D30-8D647C7FBF7C}"/>
              </a:ext>
            </a:extLst>
          </p:cNvPr>
          <p:cNvGrpSpPr/>
          <p:nvPr/>
        </p:nvGrpSpPr>
        <p:grpSpPr>
          <a:xfrm>
            <a:off x="5938765" y="1670037"/>
            <a:ext cx="7073239" cy="702102"/>
            <a:chOff x="0" y="2546772"/>
            <a:chExt cx="9430985" cy="936136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ED5E7770-9398-654E-B502-19F26FAC27DE}"/>
                </a:ext>
              </a:extLst>
            </p:cNvPr>
            <p:cNvSpPr txBox="1"/>
            <p:nvPr/>
          </p:nvSpPr>
          <p:spPr>
            <a:xfrm>
              <a:off x="25753" y="2930862"/>
              <a:ext cx="9405232" cy="55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7" name="AutoShape 7">
              <a:extLst>
                <a:ext uri="{FF2B5EF4-FFF2-40B4-BE49-F238E27FC236}">
                  <a16:creationId xmlns:a16="http://schemas.microsoft.com/office/drawing/2014/main" id="{15B1877E-240F-AFB3-E797-42D2018AC405}"/>
                </a:ext>
              </a:extLst>
            </p:cNvPr>
            <p:cNvSpPr/>
            <p:nvPr/>
          </p:nvSpPr>
          <p:spPr>
            <a:xfrm>
              <a:off x="0" y="2546772"/>
              <a:ext cx="9405232" cy="0"/>
            </a:xfrm>
            <a:prstGeom prst="line">
              <a:avLst/>
            </a:prstGeom>
            <a:ln w="20074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BCB62-3DB4-27F7-B5A9-5E091AAEF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texte, capture d’écran, Police, Tracé&#10;&#10;Le contenu généré par l’IA peut être incorrect.">
            <a:extLst>
              <a:ext uri="{FF2B5EF4-FFF2-40B4-BE49-F238E27FC236}">
                <a16:creationId xmlns:a16="http://schemas.microsoft.com/office/drawing/2014/main" id="{8CAA4F72-F153-A881-2ED9-8D87DE0787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r="2246"/>
          <a:stretch>
            <a:fillRect/>
          </a:stretch>
        </p:blipFill>
        <p:spPr>
          <a:xfrm>
            <a:off x="1724141" y="4498427"/>
            <a:ext cx="14839718" cy="5715000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9B770D71-7106-DC86-1AC4-BB4112B84D11}"/>
              </a:ext>
            </a:extLst>
          </p:cNvPr>
          <p:cNvGrpSpPr/>
          <p:nvPr/>
        </p:nvGrpSpPr>
        <p:grpSpPr>
          <a:xfrm>
            <a:off x="10432734" y="1893070"/>
            <a:ext cx="4712929" cy="1421148"/>
            <a:chOff x="0" y="0"/>
            <a:chExt cx="6283905" cy="189486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D01E743-D4DB-DB98-05D5-68169AE6707F}"/>
                </a:ext>
              </a:extLst>
            </p:cNvPr>
            <p:cNvSpPr txBox="1"/>
            <p:nvPr/>
          </p:nvSpPr>
          <p:spPr>
            <a:xfrm>
              <a:off x="0" y="1193789"/>
              <a:ext cx="6283905" cy="701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28"/>
                </a:lnSpc>
              </a:pPr>
              <a:endParaRPr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94CCDC1-A5F9-129B-AC5D-B3D4528AE415}"/>
                </a:ext>
              </a:extLst>
            </p:cNvPr>
            <p:cNvSpPr txBox="1"/>
            <p:nvPr/>
          </p:nvSpPr>
          <p:spPr>
            <a:xfrm>
              <a:off x="0" y="-76200"/>
              <a:ext cx="6283905" cy="841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33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448BB9F-DD0B-4DDB-5DAA-A07A36B5A080}"/>
              </a:ext>
            </a:extLst>
          </p:cNvPr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pic>
        <p:nvPicPr>
          <p:cNvPr id="4" name="Image 3" descr="Une image contenant texte, logiciel, Icône d’ordinateur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8917853A-AEF7-7351-D0F1-2A50877F4A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47" r="1706" b="9432"/>
          <a:stretch>
            <a:fillRect/>
          </a:stretch>
        </p:blipFill>
        <p:spPr>
          <a:xfrm>
            <a:off x="1724141" y="73573"/>
            <a:ext cx="14839718" cy="5374727"/>
          </a:xfrm>
          <a:prstGeom prst="rect">
            <a:avLst/>
          </a:prstGeom>
        </p:spPr>
      </p:pic>
      <p:grpSp>
        <p:nvGrpSpPr>
          <p:cNvPr id="10" name="Group 7">
            <a:extLst>
              <a:ext uri="{FF2B5EF4-FFF2-40B4-BE49-F238E27FC236}">
                <a16:creationId xmlns:a16="http://schemas.microsoft.com/office/drawing/2014/main" id="{51E58F0E-0576-D315-FB8A-87C0E8BEDBE8}"/>
              </a:ext>
            </a:extLst>
          </p:cNvPr>
          <p:cNvGrpSpPr/>
          <p:nvPr/>
        </p:nvGrpSpPr>
        <p:grpSpPr>
          <a:xfrm>
            <a:off x="-1085865" y="-205807"/>
            <a:ext cx="2171730" cy="2205796"/>
            <a:chOff x="0" y="0"/>
            <a:chExt cx="812800" cy="825500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404EE0C0-DC2D-038D-39BF-FF4BC1DE602D}"/>
                </a:ext>
              </a:extLst>
            </p:cNvPr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9D2EB872-4A42-94F9-7235-491CCBEAE32F}"/>
                </a:ext>
              </a:extLst>
            </p:cNvPr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47356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432734" y="1893070"/>
            <a:ext cx="4712929" cy="1421148"/>
            <a:chOff x="0" y="0"/>
            <a:chExt cx="6283905" cy="1894864"/>
          </a:xfrm>
        </p:grpSpPr>
        <p:sp>
          <p:nvSpPr>
            <p:cNvPr id="5" name="TextBox 5"/>
            <p:cNvSpPr txBox="1"/>
            <p:nvPr/>
          </p:nvSpPr>
          <p:spPr>
            <a:xfrm>
              <a:off x="0" y="1193789"/>
              <a:ext cx="6283905" cy="701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28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6283905" cy="841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33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2813" y="2966258"/>
            <a:ext cx="5405988" cy="6354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97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Cette section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permet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gérer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les livres de la bibliothèque.</a:t>
            </a:r>
          </a:p>
          <a:p>
            <a:pPr algn="ctr">
              <a:lnSpc>
                <a:spcPts val="4997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Fonctionnalités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:</a:t>
            </a:r>
          </a:p>
          <a:p>
            <a:pPr marL="457200" indent="-457200" algn="ctr">
              <a:lnSpc>
                <a:spcPts val="49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Ajouter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un nouveau livre</a:t>
            </a:r>
          </a:p>
          <a:p>
            <a:pPr marL="457200" indent="-457200" algn="ctr">
              <a:lnSpc>
                <a:spcPts val="49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Modifier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ou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supprimer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un livre</a:t>
            </a:r>
          </a:p>
          <a:p>
            <a:pPr marL="457200" indent="-457200" algn="ctr">
              <a:lnSpc>
                <a:spcPts val="49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Afficher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la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liste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des livres</a:t>
            </a:r>
          </a:p>
          <a:p>
            <a:pPr marL="457200" indent="-457200" algn="ctr">
              <a:lnSpc>
                <a:spcPts val="49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Rechercher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un livre par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titre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ou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auteur</a:t>
            </a:r>
          </a:p>
          <a:p>
            <a:pPr marL="457200" indent="-457200" algn="ctr">
              <a:lnSpc>
                <a:spcPts val="49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Consulter la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disponibilité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du livre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2F228ED2-0487-B2E4-95F3-A1B7A0D00358}"/>
              </a:ext>
            </a:extLst>
          </p:cNvPr>
          <p:cNvSpPr txBox="1"/>
          <p:nvPr/>
        </p:nvSpPr>
        <p:spPr>
          <a:xfrm>
            <a:off x="5938765" y="510284"/>
            <a:ext cx="6407467" cy="1004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Gestion Livres</a:t>
            </a:r>
            <a:endParaRPr lang="en-US" sz="7200" dirty="0">
              <a:solidFill>
                <a:srgbClr val="000000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pic>
        <p:nvPicPr>
          <p:cNvPr id="12" name="Image 11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22311962-228E-C441-0045-823794193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765" y="2590596"/>
            <a:ext cx="12116423" cy="7095752"/>
          </a:xfrm>
          <a:prstGeom prst="roundRect">
            <a:avLst/>
          </a:prstGeom>
        </p:spPr>
      </p:pic>
      <p:grpSp>
        <p:nvGrpSpPr>
          <p:cNvPr id="13" name="Group 7">
            <a:extLst>
              <a:ext uri="{FF2B5EF4-FFF2-40B4-BE49-F238E27FC236}">
                <a16:creationId xmlns:a16="http://schemas.microsoft.com/office/drawing/2014/main" id="{5235C721-A8F9-323E-840D-A6A4F68C2D4F}"/>
              </a:ext>
            </a:extLst>
          </p:cNvPr>
          <p:cNvGrpSpPr/>
          <p:nvPr/>
        </p:nvGrpSpPr>
        <p:grpSpPr>
          <a:xfrm>
            <a:off x="-1085865" y="-205807"/>
            <a:ext cx="2171730" cy="2205796"/>
            <a:chOff x="0" y="0"/>
            <a:chExt cx="812800" cy="825500"/>
          </a:xfrm>
        </p:grpSpPr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679C96F0-508F-F9FC-3F95-F2787B4870DA}"/>
                </a:ext>
              </a:extLst>
            </p:cNvPr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9">
              <a:extLst>
                <a:ext uri="{FF2B5EF4-FFF2-40B4-BE49-F238E27FC236}">
                  <a16:creationId xmlns:a16="http://schemas.microsoft.com/office/drawing/2014/main" id="{68DE62F6-B206-3E20-1C7F-E776B4CD79B4}"/>
                </a:ext>
              </a:extLst>
            </p:cNvPr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4">
            <a:extLst>
              <a:ext uri="{FF2B5EF4-FFF2-40B4-BE49-F238E27FC236}">
                <a16:creationId xmlns:a16="http://schemas.microsoft.com/office/drawing/2014/main" id="{4DD2E572-C744-BDC7-2753-6BED204F0EA0}"/>
              </a:ext>
            </a:extLst>
          </p:cNvPr>
          <p:cNvGrpSpPr/>
          <p:nvPr/>
        </p:nvGrpSpPr>
        <p:grpSpPr>
          <a:xfrm>
            <a:off x="5938765" y="1670037"/>
            <a:ext cx="7073239" cy="702102"/>
            <a:chOff x="0" y="2546772"/>
            <a:chExt cx="9430985" cy="936136"/>
          </a:xfrm>
        </p:grpSpPr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AB3C63F3-BA59-6E2D-FB2E-4EA197DB5CDC}"/>
                </a:ext>
              </a:extLst>
            </p:cNvPr>
            <p:cNvSpPr txBox="1"/>
            <p:nvPr/>
          </p:nvSpPr>
          <p:spPr>
            <a:xfrm>
              <a:off x="25753" y="2930862"/>
              <a:ext cx="9405232" cy="55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8" name="AutoShape 7">
              <a:extLst>
                <a:ext uri="{FF2B5EF4-FFF2-40B4-BE49-F238E27FC236}">
                  <a16:creationId xmlns:a16="http://schemas.microsoft.com/office/drawing/2014/main" id="{9B3A2A29-8DB1-B1D2-CBB4-093FE4ACABD7}"/>
                </a:ext>
              </a:extLst>
            </p:cNvPr>
            <p:cNvSpPr/>
            <p:nvPr/>
          </p:nvSpPr>
          <p:spPr>
            <a:xfrm>
              <a:off x="0" y="2546772"/>
              <a:ext cx="9405232" cy="0"/>
            </a:xfrm>
            <a:prstGeom prst="line">
              <a:avLst/>
            </a:prstGeom>
            <a:ln w="20074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26DDA-6709-A3B9-7AF2-7A5D08C3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54D58220-726B-9AB1-0B7D-C534B096C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2347370"/>
            <a:ext cx="12537464" cy="7291930"/>
          </a:xfrm>
          <a:prstGeom prst="round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50474E55-0247-BBD0-BB9F-00B1029FAA1C}"/>
              </a:ext>
            </a:extLst>
          </p:cNvPr>
          <p:cNvGrpSpPr/>
          <p:nvPr/>
        </p:nvGrpSpPr>
        <p:grpSpPr>
          <a:xfrm>
            <a:off x="10432734" y="1893070"/>
            <a:ext cx="4712929" cy="1421148"/>
            <a:chOff x="0" y="0"/>
            <a:chExt cx="6283905" cy="189486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31502BA-AB51-8D0A-FD20-FB1EC34EEC9A}"/>
                </a:ext>
              </a:extLst>
            </p:cNvPr>
            <p:cNvSpPr txBox="1"/>
            <p:nvPr/>
          </p:nvSpPr>
          <p:spPr>
            <a:xfrm>
              <a:off x="0" y="1193789"/>
              <a:ext cx="6283905" cy="701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28"/>
                </a:lnSpc>
              </a:pPr>
              <a:endParaRPr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1FCCAD9-82B7-2A25-0C72-12126AE257F9}"/>
                </a:ext>
              </a:extLst>
            </p:cNvPr>
            <p:cNvSpPr txBox="1"/>
            <p:nvPr/>
          </p:nvSpPr>
          <p:spPr>
            <a:xfrm>
              <a:off x="0" y="-76200"/>
              <a:ext cx="6283905" cy="841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33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CC946CC2-8F4B-6A7F-48A5-15E6CAF15D03}"/>
              </a:ext>
            </a:extLst>
          </p:cNvPr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0BF0D65-CDB1-8B55-2C66-F9659CB723A6}"/>
              </a:ext>
            </a:extLst>
          </p:cNvPr>
          <p:cNvSpPr txBox="1"/>
          <p:nvPr/>
        </p:nvSpPr>
        <p:spPr>
          <a:xfrm>
            <a:off x="187936" y="3297407"/>
            <a:ext cx="5161357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2800" dirty="0">
                <a:latin typeface="Radley" panose="020B0604020202020204" charset="0"/>
                <a:cs typeface="Carlito" panose="020B0604020202020204" charset="0"/>
              </a:rPr>
              <a:t>Cette section permet de gérer les auteurs de la bibliothèque.</a:t>
            </a:r>
          </a:p>
          <a:p>
            <a:pPr algn="ctr"/>
            <a:r>
              <a:rPr lang="fr-FR" sz="2800" dirty="0">
                <a:latin typeface="Radley" panose="020B0604020202020204" charset="0"/>
                <a:cs typeface="Carlito" panose="020B0604020202020204" charset="0"/>
              </a:rPr>
              <a:t>Fonctionnalités :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fr-FR" sz="2800" dirty="0">
                <a:latin typeface="Radley" panose="020B0604020202020204" charset="0"/>
                <a:cs typeface="Carlito" panose="020B0604020202020204" charset="0"/>
              </a:rPr>
              <a:t>Ajouter un nouvel auteur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fr-FR" sz="2800" dirty="0">
                <a:latin typeface="Radley" panose="020B0604020202020204" charset="0"/>
                <a:cs typeface="Carlito" panose="020B0604020202020204" charset="0"/>
              </a:rPr>
              <a:t>Modifier ou supprimer un auteur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fr-FR" sz="2800" dirty="0">
                <a:latin typeface="Radley" panose="020B0604020202020204" charset="0"/>
                <a:cs typeface="Carlito" panose="020B0604020202020204" charset="0"/>
              </a:rPr>
              <a:t>Afficher la liste des auteurs avec leur bibliographie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fr-FR" sz="2800" dirty="0">
                <a:latin typeface="Radley" panose="020B0604020202020204" charset="0"/>
                <a:cs typeface="Carlito" panose="020B0604020202020204" charset="0"/>
              </a:rPr>
              <a:t>Rechercher un auteur par nom, prénom ou nationalité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fr-FR" sz="2800" dirty="0">
                <a:latin typeface="Radley" panose="020B0604020202020204" charset="0"/>
                <a:cs typeface="Carlito" panose="020B0604020202020204" charset="0"/>
              </a:rPr>
              <a:t>Consulter les détails de l'auteur (biographie, nationalité, œuvres)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86AB8F06-D672-8293-FC24-A3C8D71A4983}"/>
              </a:ext>
            </a:extLst>
          </p:cNvPr>
          <p:cNvSpPr txBox="1"/>
          <p:nvPr/>
        </p:nvSpPr>
        <p:spPr>
          <a:xfrm>
            <a:off x="5938765" y="510284"/>
            <a:ext cx="6407467" cy="1004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Gestion Auteurs</a:t>
            </a:r>
            <a:endParaRPr lang="en-US" sz="7200" dirty="0">
              <a:solidFill>
                <a:srgbClr val="000000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9518B88D-171B-D1CE-A779-2D30E71DE8B2}"/>
              </a:ext>
            </a:extLst>
          </p:cNvPr>
          <p:cNvGrpSpPr/>
          <p:nvPr/>
        </p:nvGrpSpPr>
        <p:grpSpPr>
          <a:xfrm>
            <a:off x="-1085865" y="-205807"/>
            <a:ext cx="2171730" cy="2205796"/>
            <a:chOff x="0" y="0"/>
            <a:chExt cx="812800" cy="825500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3C044E1E-C16F-957E-607A-29516FC5EF22}"/>
                </a:ext>
              </a:extLst>
            </p:cNvPr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BEE15C52-0A3A-D9B4-E64D-D76DBE6CD7E4}"/>
                </a:ext>
              </a:extLst>
            </p:cNvPr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BBDD91B1-77BF-5940-AA94-75F40217B54C}"/>
              </a:ext>
            </a:extLst>
          </p:cNvPr>
          <p:cNvGrpSpPr/>
          <p:nvPr/>
        </p:nvGrpSpPr>
        <p:grpSpPr>
          <a:xfrm>
            <a:off x="5938765" y="1670037"/>
            <a:ext cx="7073239" cy="702102"/>
            <a:chOff x="0" y="2546772"/>
            <a:chExt cx="9430985" cy="936136"/>
          </a:xfrm>
        </p:grpSpPr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2503AEBC-F4AC-F4D2-0E5C-455D2AA512F1}"/>
                </a:ext>
              </a:extLst>
            </p:cNvPr>
            <p:cNvSpPr txBox="1"/>
            <p:nvPr/>
          </p:nvSpPr>
          <p:spPr>
            <a:xfrm>
              <a:off x="25753" y="2930862"/>
              <a:ext cx="9405232" cy="55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id="{2233DE31-FF5C-09FA-27AA-815615656DFF}"/>
                </a:ext>
              </a:extLst>
            </p:cNvPr>
            <p:cNvSpPr/>
            <p:nvPr/>
          </p:nvSpPr>
          <p:spPr>
            <a:xfrm>
              <a:off x="0" y="2546772"/>
              <a:ext cx="9405232" cy="0"/>
            </a:xfrm>
            <a:prstGeom prst="line">
              <a:avLst/>
            </a:prstGeom>
            <a:ln w="20074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3664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432734" y="1893070"/>
            <a:ext cx="4712929" cy="1421148"/>
            <a:chOff x="0" y="0"/>
            <a:chExt cx="6283905" cy="1894864"/>
          </a:xfrm>
        </p:grpSpPr>
        <p:sp>
          <p:nvSpPr>
            <p:cNvPr id="4" name="TextBox 4"/>
            <p:cNvSpPr txBox="1"/>
            <p:nvPr/>
          </p:nvSpPr>
          <p:spPr>
            <a:xfrm>
              <a:off x="0" y="1193789"/>
              <a:ext cx="6283905" cy="701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28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6283905" cy="841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33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158" y="2958829"/>
            <a:ext cx="4811975" cy="6121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88"/>
              </a:lnSpc>
              <a:spcBef>
                <a:spcPct val="0"/>
              </a:spcBef>
            </a:pP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Cette section est 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dédiée</a:t>
            </a: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à la gestion des 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adhérents</a:t>
            </a: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(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utilisateurs</a:t>
            </a: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).</a:t>
            </a:r>
          </a:p>
          <a:p>
            <a:pPr algn="ctr">
              <a:lnSpc>
                <a:spcPts val="3988"/>
              </a:lnSpc>
              <a:spcBef>
                <a:spcPct val="0"/>
              </a:spcBef>
            </a:pP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Fonctionnalités</a:t>
            </a: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:</a:t>
            </a:r>
          </a:p>
          <a:p>
            <a:pPr marL="457200" indent="-457200" algn="ctr">
              <a:lnSpc>
                <a:spcPts val="398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Ajouter</a:t>
            </a: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un 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adhérent</a:t>
            </a:r>
            <a:endParaRPr lang="en-US" sz="2848" dirty="0">
              <a:solidFill>
                <a:srgbClr val="000000"/>
              </a:solidFill>
              <a:latin typeface="Radley" panose="020B0604020202020204" charset="0"/>
              <a:ea typeface="Open Sans"/>
              <a:cs typeface="Open Sans"/>
              <a:sym typeface="Open Sans"/>
            </a:endParaRPr>
          </a:p>
          <a:p>
            <a:pPr marL="457200" indent="-457200" algn="ctr">
              <a:lnSpc>
                <a:spcPts val="398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Modifier les 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informations</a:t>
            </a: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d’un 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adhérent</a:t>
            </a:r>
            <a:endParaRPr lang="en-US" sz="2848" dirty="0">
              <a:solidFill>
                <a:srgbClr val="000000"/>
              </a:solidFill>
              <a:latin typeface="Radley" panose="020B0604020202020204" charset="0"/>
              <a:ea typeface="Open Sans"/>
              <a:cs typeface="Open Sans"/>
              <a:sym typeface="Open Sans"/>
            </a:endParaRPr>
          </a:p>
          <a:p>
            <a:pPr marL="457200" indent="-457200" algn="ctr">
              <a:lnSpc>
                <a:spcPts val="398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Supprimer</a:t>
            </a: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un 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adhérent</a:t>
            </a:r>
            <a:endParaRPr lang="en-US" sz="2848" dirty="0">
              <a:solidFill>
                <a:srgbClr val="000000"/>
              </a:solidFill>
              <a:latin typeface="Radley" panose="020B0604020202020204" charset="0"/>
              <a:ea typeface="Open Sans"/>
              <a:cs typeface="Open Sans"/>
              <a:sym typeface="Open Sans"/>
            </a:endParaRPr>
          </a:p>
          <a:p>
            <a:pPr marL="457200" indent="-457200" algn="ctr">
              <a:lnSpc>
                <a:spcPts val="398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Consulter la 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liste</a:t>
            </a: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des 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adhérents</a:t>
            </a:r>
            <a:endParaRPr lang="en-US" sz="2848" dirty="0">
              <a:solidFill>
                <a:srgbClr val="000000"/>
              </a:solidFill>
              <a:latin typeface="Radley" panose="020B0604020202020204" charset="0"/>
              <a:ea typeface="Open Sans"/>
              <a:cs typeface="Open Sans"/>
              <a:sym typeface="Open Sans"/>
            </a:endParaRPr>
          </a:p>
          <a:p>
            <a:pPr marL="457200" indent="-457200" algn="ctr">
              <a:lnSpc>
                <a:spcPts val="398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Voir 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l’historique</a:t>
            </a: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des 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emprunts</a:t>
            </a:r>
            <a:r>
              <a:rPr lang="en-US" sz="2848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d’un </a:t>
            </a:r>
            <a:r>
              <a:rPr lang="en-US" sz="2848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adhérent</a:t>
            </a:r>
            <a:endParaRPr lang="en-US" sz="2848" dirty="0">
              <a:solidFill>
                <a:srgbClr val="000000"/>
              </a:solidFill>
              <a:latin typeface="Radley" panose="020B0604020202020204" charset="0"/>
              <a:ea typeface="Open Sans"/>
              <a:cs typeface="Open Sans"/>
              <a:sym typeface="Open Sans"/>
            </a:endParaRPr>
          </a:p>
        </p:txBody>
      </p:sp>
      <p:pic>
        <p:nvPicPr>
          <p:cNvPr id="10" name="Image 9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4586ACD5-E253-CD84-B25A-80515B93E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932" y="2472791"/>
            <a:ext cx="12627918" cy="7093689"/>
          </a:xfrm>
          <a:prstGeom prst="roundRect">
            <a:avLst/>
          </a:prstGeom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F36515E8-E8DF-E8C3-074B-448455D61431}"/>
              </a:ext>
            </a:extLst>
          </p:cNvPr>
          <p:cNvSpPr txBox="1"/>
          <p:nvPr/>
        </p:nvSpPr>
        <p:spPr>
          <a:xfrm>
            <a:off x="5938765" y="510284"/>
            <a:ext cx="8691635" cy="1006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Gestion Adherents</a:t>
            </a:r>
            <a:endParaRPr lang="en-US" sz="7200" dirty="0">
              <a:solidFill>
                <a:srgbClr val="000000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671995E2-18F4-8ECC-8374-D9FC68A0C01D}"/>
              </a:ext>
            </a:extLst>
          </p:cNvPr>
          <p:cNvGrpSpPr/>
          <p:nvPr/>
        </p:nvGrpSpPr>
        <p:grpSpPr>
          <a:xfrm>
            <a:off x="-1085865" y="-205807"/>
            <a:ext cx="2171730" cy="2205796"/>
            <a:chOff x="0" y="0"/>
            <a:chExt cx="812800" cy="825500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451270E-A35C-4004-AE19-E49CC7F1E565}"/>
                </a:ext>
              </a:extLst>
            </p:cNvPr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791438EB-31AA-3BDD-CDD6-8791C473AB3E}"/>
                </a:ext>
              </a:extLst>
            </p:cNvPr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2784E18D-6C8D-B5F6-6347-43C3F546F358}"/>
              </a:ext>
            </a:extLst>
          </p:cNvPr>
          <p:cNvGrpSpPr/>
          <p:nvPr/>
        </p:nvGrpSpPr>
        <p:grpSpPr>
          <a:xfrm>
            <a:off x="5938765" y="1670037"/>
            <a:ext cx="7073239" cy="702102"/>
            <a:chOff x="0" y="2546772"/>
            <a:chExt cx="9430985" cy="936136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3C2DC4A2-2919-3294-DCAE-F892109064B1}"/>
                </a:ext>
              </a:extLst>
            </p:cNvPr>
            <p:cNvSpPr txBox="1"/>
            <p:nvPr/>
          </p:nvSpPr>
          <p:spPr>
            <a:xfrm>
              <a:off x="25753" y="2930862"/>
              <a:ext cx="9405232" cy="55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7" name="AutoShape 7">
              <a:extLst>
                <a:ext uri="{FF2B5EF4-FFF2-40B4-BE49-F238E27FC236}">
                  <a16:creationId xmlns:a16="http://schemas.microsoft.com/office/drawing/2014/main" id="{C68D8C2C-5D24-7960-0003-139BB3A96B60}"/>
                </a:ext>
              </a:extLst>
            </p:cNvPr>
            <p:cNvSpPr/>
            <p:nvPr/>
          </p:nvSpPr>
          <p:spPr>
            <a:xfrm>
              <a:off x="0" y="2546772"/>
              <a:ext cx="9405232" cy="0"/>
            </a:xfrm>
            <a:prstGeom prst="line">
              <a:avLst/>
            </a:prstGeom>
            <a:ln w="20074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texte, logiciel, Icône d’ordinateur, nombre&#10;&#10;Le contenu généré par l’IA peut être incorrect.">
            <a:extLst>
              <a:ext uri="{FF2B5EF4-FFF2-40B4-BE49-F238E27FC236}">
                <a16:creationId xmlns:a16="http://schemas.microsoft.com/office/drawing/2014/main" id="{ADFE6B37-03B6-9BE9-C8B4-BB9F6A4D5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67348"/>
            <a:ext cx="11963400" cy="7095751"/>
          </a:xfrm>
          <a:prstGeom prst="round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0432734" y="1893070"/>
            <a:ext cx="4712929" cy="1421148"/>
            <a:chOff x="0" y="0"/>
            <a:chExt cx="6283905" cy="1894864"/>
          </a:xfrm>
        </p:grpSpPr>
        <p:sp>
          <p:nvSpPr>
            <p:cNvPr id="4" name="TextBox 4"/>
            <p:cNvSpPr txBox="1"/>
            <p:nvPr/>
          </p:nvSpPr>
          <p:spPr>
            <a:xfrm>
              <a:off x="0" y="1193789"/>
              <a:ext cx="6283905" cy="701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28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6283905" cy="841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33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5783" y="2467348"/>
            <a:ext cx="5733108" cy="6594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90"/>
              </a:lnSpc>
            </a:pPr>
            <a:endParaRPr sz="2800" dirty="0"/>
          </a:p>
          <a:p>
            <a:pPr algn="ctr">
              <a:lnSpc>
                <a:spcPts val="5190"/>
              </a:lnSpc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Cette section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permet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gérer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les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emprunts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et les retours des livres.</a:t>
            </a:r>
          </a:p>
          <a:p>
            <a:pPr algn="ctr">
              <a:lnSpc>
                <a:spcPts val="5190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Fonctionnalités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:</a:t>
            </a:r>
          </a:p>
          <a:p>
            <a:pPr marL="457200" indent="-457200" algn="ctr">
              <a:lnSpc>
                <a:spcPts val="519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Enregistrer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un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nouvel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emprunt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Open Sans"/>
              <a:sym typeface="Open Sans"/>
            </a:endParaRPr>
          </a:p>
          <a:p>
            <a:pPr marL="457200" indent="-457200" algn="ctr">
              <a:lnSpc>
                <a:spcPts val="519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Gérer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le retour des livres</a:t>
            </a:r>
          </a:p>
          <a:p>
            <a:pPr marL="457200" indent="-457200" algn="ctr">
              <a:lnSpc>
                <a:spcPts val="519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Afficher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les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emprunts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cours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Open Sans"/>
              <a:sym typeface="Open Sans"/>
            </a:endParaRPr>
          </a:p>
          <a:p>
            <a:pPr marL="457200" indent="-457200" algn="ctr">
              <a:lnSpc>
                <a:spcPts val="519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Suivre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les dates de retour</a:t>
            </a:r>
          </a:p>
          <a:p>
            <a:pPr marL="457200" indent="-457200" algn="ctr">
              <a:lnSpc>
                <a:spcPts val="519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Éviter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les retards et les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pertes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 de livres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30E124DC-C324-94F2-D61D-C2FAD8042F3C}"/>
              </a:ext>
            </a:extLst>
          </p:cNvPr>
          <p:cNvSpPr txBox="1"/>
          <p:nvPr/>
        </p:nvSpPr>
        <p:spPr>
          <a:xfrm>
            <a:off x="5938765" y="510284"/>
            <a:ext cx="8082035" cy="1006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Gestion </a:t>
            </a:r>
            <a:r>
              <a:rPr lang="en-US" sz="7000" dirty="0" err="1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Emprunts</a:t>
            </a:r>
            <a:endParaRPr lang="en-US" sz="7200" dirty="0">
              <a:solidFill>
                <a:srgbClr val="000000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BB88F07B-8141-9E68-1967-094A53BE57E6}"/>
              </a:ext>
            </a:extLst>
          </p:cNvPr>
          <p:cNvGrpSpPr/>
          <p:nvPr/>
        </p:nvGrpSpPr>
        <p:grpSpPr>
          <a:xfrm>
            <a:off x="-1085865" y="-205807"/>
            <a:ext cx="2171730" cy="2205796"/>
            <a:chOff x="0" y="0"/>
            <a:chExt cx="812800" cy="825500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210E8481-E9EC-7486-B175-F71481FBC727}"/>
                </a:ext>
              </a:extLst>
            </p:cNvPr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7BB00834-4CD6-1E4B-2ABA-F6ABE1C3CCF4}"/>
                </a:ext>
              </a:extLst>
            </p:cNvPr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8030EFD3-CAF5-9C8C-0A0B-68F52CC5B0C6}"/>
              </a:ext>
            </a:extLst>
          </p:cNvPr>
          <p:cNvGrpSpPr/>
          <p:nvPr/>
        </p:nvGrpSpPr>
        <p:grpSpPr>
          <a:xfrm>
            <a:off x="5938765" y="1670037"/>
            <a:ext cx="7073239" cy="702102"/>
            <a:chOff x="0" y="2546772"/>
            <a:chExt cx="9430985" cy="936136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9BDEBB70-4B3D-CF3C-09C6-BF59428A1286}"/>
                </a:ext>
              </a:extLst>
            </p:cNvPr>
            <p:cNvSpPr txBox="1"/>
            <p:nvPr/>
          </p:nvSpPr>
          <p:spPr>
            <a:xfrm>
              <a:off x="25753" y="2930862"/>
              <a:ext cx="9405232" cy="55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7" name="AutoShape 7">
              <a:extLst>
                <a:ext uri="{FF2B5EF4-FFF2-40B4-BE49-F238E27FC236}">
                  <a16:creationId xmlns:a16="http://schemas.microsoft.com/office/drawing/2014/main" id="{40178BB8-3E1C-565B-6CE5-21A5CA11BF53}"/>
                </a:ext>
              </a:extLst>
            </p:cNvPr>
            <p:cNvSpPr/>
            <p:nvPr/>
          </p:nvSpPr>
          <p:spPr>
            <a:xfrm>
              <a:off x="0" y="2546772"/>
              <a:ext cx="9405232" cy="0"/>
            </a:xfrm>
            <a:prstGeom prst="line">
              <a:avLst/>
            </a:prstGeom>
            <a:ln w="20074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91FBF27D-92C3-D0D4-038E-943F6A54D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18" y="2857500"/>
            <a:ext cx="15925682" cy="7186801"/>
          </a:xfrm>
          <a:prstGeom prst="round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85800" y="1999989"/>
            <a:ext cx="17983200" cy="594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2800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Les livres </a:t>
            </a:r>
            <a:r>
              <a:rPr lang="en-US" sz="2800" dirty="0" err="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sont</a:t>
            </a:r>
            <a:r>
              <a:rPr lang="en-US" sz="2800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organisés</a:t>
            </a:r>
            <a:r>
              <a:rPr lang="en-US" sz="2800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catégories</a:t>
            </a:r>
            <a:r>
              <a:rPr lang="en-US" sz="2800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. Cela </a:t>
            </a:r>
            <a:r>
              <a:rPr lang="en-US" sz="2800" dirty="0" err="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permet</a:t>
            </a:r>
            <a:r>
              <a:rPr lang="en-US" sz="2800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parcourir</a:t>
            </a:r>
            <a:r>
              <a:rPr lang="en-US" sz="2800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facilement</a:t>
            </a:r>
            <a:r>
              <a:rPr lang="en-US" sz="2800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les collections par </a:t>
            </a:r>
            <a:r>
              <a:rPr lang="en-US" sz="2800" dirty="0" err="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thème</a:t>
            </a:r>
            <a:r>
              <a:rPr lang="en-US" sz="2800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ou</a:t>
            </a:r>
            <a:r>
              <a:rPr lang="en-US" sz="2800" dirty="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par genre.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5F07B0F-A480-2F56-C78A-EB7C686A9CBC}"/>
              </a:ext>
            </a:extLst>
          </p:cNvPr>
          <p:cNvSpPr txBox="1"/>
          <p:nvPr/>
        </p:nvSpPr>
        <p:spPr>
          <a:xfrm>
            <a:off x="5938765" y="510284"/>
            <a:ext cx="8082035" cy="1006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Gestion Categories</a:t>
            </a:r>
            <a:endParaRPr lang="en-US" sz="7200" dirty="0">
              <a:solidFill>
                <a:srgbClr val="000000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55D246BF-094F-EEFF-2F26-D4D3539A3EFF}"/>
              </a:ext>
            </a:extLst>
          </p:cNvPr>
          <p:cNvGrpSpPr/>
          <p:nvPr/>
        </p:nvGrpSpPr>
        <p:grpSpPr>
          <a:xfrm>
            <a:off x="-1085865" y="-205807"/>
            <a:ext cx="2171730" cy="2205796"/>
            <a:chOff x="0" y="0"/>
            <a:chExt cx="812800" cy="825500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B11B87EC-2430-E3F6-ECD0-637E811E58FD}"/>
                </a:ext>
              </a:extLst>
            </p:cNvPr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EACBEB5F-880E-3819-B453-F01F2328DEE3}"/>
                </a:ext>
              </a:extLst>
            </p:cNvPr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4">
            <a:extLst>
              <a:ext uri="{FF2B5EF4-FFF2-40B4-BE49-F238E27FC236}">
                <a16:creationId xmlns:a16="http://schemas.microsoft.com/office/drawing/2014/main" id="{D097F075-E8D5-C63D-A7C1-9A15FCEECEDB}"/>
              </a:ext>
            </a:extLst>
          </p:cNvPr>
          <p:cNvGrpSpPr/>
          <p:nvPr/>
        </p:nvGrpSpPr>
        <p:grpSpPr>
          <a:xfrm>
            <a:off x="5938765" y="1670037"/>
            <a:ext cx="7073239" cy="702102"/>
            <a:chOff x="0" y="2546772"/>
            <a:chExt cx="9430985" cy="936136"/>
          </a:xfrm>
        </p:grpSpPr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3352F5CA-011D-7F62-4B0D-FB3A9AA3DD75}"/>
                </a:ext>
              </a:extLst>
            </p:cNvPr>
            <p:cNvSpPr txBox="1"/>
            <p:nvPr/>
          </p:nvSpPr>
          <p:spPr>
            <a:xfrm>
              <a:off x="25753" y="2930862"/>
              <a:ext cx="9405232" cy="55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412E5A05-6E8C-2C57-5D46-3C268B2DDD64}"/>
                </a:ext>
              </a:extLst>
            </p:cNvPr>
            <p:cNvSpPr/>
            <p:nvPr/>
          </p:nvSpPr>
          <p:spPr>
            <a:xfrm>
              <a:off x="0" y="2546772"/>
              <a:ext cx="9405232" cy="0"/>
            </a:xfrm>
            <a:prstGeom prst="line">
              <a:avLst/>
            </a:prstGeom>
            <a:ln w="20074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7216878" y="9210675"/>
            <a:ext cx="237244" cy="34240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adley" panose="020B0604020202020204" charset="0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3946" y="2866251"/>
            <a:ext cx="3143250" cy="892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Radley" panose="020B0604020202020204" charset="0"/>
                <a:ea typeface="Open Sans Bold"/>
                <a:cs typeface="Open Sans Bold"/>
                <a:sym typeface="Open Sans Bold"/>
              </a:rPr>
              <a:t>HTML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369" y="4076700"/>
            <a:ext cx="5608404" cy="5825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HTML est la base de toute page web.</a:t>
            </a:r>
          </a:p>
          <a:p>
            <a:pPr algn="ctr">
              <a:lnSpc>
                <a:spcPts val="3509"/>
              </a:lnSpc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Il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permet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créer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la structure du site.</a:t>
            </a:r>
          </a:p>
          <a:p>
            <a:pPr algn="ctr">
              <a:lnSpc>
                <a:spcPts val="3509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Rôle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dans le site de gestion de bibliothèque :</a:t>
            </a:r>
          </a:p>
          <a:p>
            <a:pPr algn="ctr">
              <a:lnSpc>
                <a:spcPts val="3509"/>
              </a:lnSpc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Structurer les pages (dashboard, livres,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adhérents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emprunts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catégories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)</a:t>
            </a:r>
          </a:p>
          <a:p>
            <a:pPr algn="ctr">
              <a:lnSpc>
                <a:spcPts val="3509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Ajouter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les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titres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textes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, tableaux et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formulaires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Carlito" panose="020B0604020202020204" charset="0"/>
              <a:sym typeface="Open Sans"/>
            </a:endParaRPr>
          </a:p>
          <a:p>
            <a:pPr algn="ctr">
              <a:lnSpc>
                <a:spcPts val="3509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Organiser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le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contenu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de manière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claire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Carlito" panose="020B0604020202020204" charset="0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406020" y="2844480"/>
            <a:ext cx="347596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Radley" panose="020B0604020202020204" charset="0"/>
                <a:ea typeface="Open Sans Bold"/>
                <a:cs typeface="Open Sans Bold"/>
                <a:sym typeface="Open Sans Bold"/>
              </a:rPr>
              <a:t>CSS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75962" y="4076700"/>
            <a:ext cx="5536075" cy="4703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CSS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permet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gérer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le design et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l’apparence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du site.</a:t>
            </a:r>
          </a:p>
          <a:p>
            <a:pPr algn="ctr">
              <a:lnSpc>
                <a:spcPts val="4118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Rôle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dans le site :</a:t>
            </a:r>
          </a:p>
          <a:p>
            <a:pPr algn="ctr">
              <a:lnSpc>
                <a:spcPts val="4118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Définir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les couleurs et les polices</a:t>
            </a:r>
          </a:p>
          <a:p>
            <a:pPr algn="ctr">
              <a:lnSpc>
                <a:spcPts val="4118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Organiser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la mise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page du dashboard</a:t>
            </a:r>
          </a:p>
          <a:p>
            <a:pPr algn="ctr">
              <a:lnSpc>
                <a:spcPts val="4118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Améliorer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l’ergonomie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et la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lisibilité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Carlito" panose="020B0604020202020204" charset="0"/>
              <a:sym typeface="Open Sans"/>
            </a:endParaRPr>
          </a:p>
          <a:p>
            <a:pPr algn="ctr">
              <a:lnSpc>
                <a:spcPts val="4118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Rendre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l’interface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plus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attractiveu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Carlito" panose="020B0604020202020204" charset="0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249400" y="2628900"/>
            <a:ext cx="2195805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Radley" panose="020B0604020202020204" charset="0"/>
                <a:ea typeface="Open Sans Bold"/>
                <a:cs typeface="Open Sans Bold"/>
                <a:sym typeface="Open Sans Bold"/>
              </a:rPr>
              <a:t>JS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7828" y="3991416"/>
            <a:ext cx="6028803" cy="5157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52"/>
              </a:lnSpc>
            </a:pP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JavaScript est un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langage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programmation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qui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permet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rendre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le site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interactif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et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dynamique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.</a:t>
            </a:r>
          </a:p>
          <a:p>
            <a:pPr algn="ctr">
              <a:lnSpc>
                <a:spcPts val="4452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Rôle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dans le site :</a:t>
            </a:r>
          </a:p>
          <a:p>
            <a:pPr algn="ctr">
              <a:lnSpc>
                <a:spcPts val="4452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Gérer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les interactions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utilisateur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Carlito" panose="020B0604020202020204" charset="0"/>
              <a:sym typeface="Open Sans"/>
            </a:endParaRPr>
          </a:p>
          <a:p>
            <a:pPr algn="ctr">
              <a:lnSpc>
                <a:spcPts val="4452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Valider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les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formulaires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Carlito" panose="020B0604020202020204" charset="0"/>
              <a:sym typeface="Open Sans"/>
            </a:endParaRPr>
          </a:p>
          <a:p>
            <a:pPr algn="ctr">
              <a:lnSpc>
                <a:spcPts val="4452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Afficher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ou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masquer des </a:t>
            </a: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éléments</a:t>
            </a:r>
            <a:endParaRPr lang="en-US" sz="2800" dirty="0">
              <a:solidFill>
                <a:srgbClr val="000000"/>
              </a:solidFill>
              <a:latin typeface="Radley" panose="020B0604020202020204" charset="0"/>
              <a:ea typeface="Open Sans"/>
              <a:cs typeface="Carlito" panose="020B0604020202020204" charset="0"/>
              <a:sym typeface="Open Sans"/>
            </a:endParaRPr>
          </a:p>
          <a:p>
            <a:pPr algn="ctr">
              <a:lnSpc>
                <a:spcPts val="4452"/>
              </a:lnSpc>
            </a:pPr>
            <a:r>
              <a:rPr lang="en-US" sz="2800" dirty="0" err="1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Mettre</a:t>
            </a:r>
            <a:r>
              <a:rPr lang="en-US" sz="2800" dirty="0">
                <a:solidFill>
                  <a:srgbClr val="000000"/>
                </a:solidFill>
                <a:latin typeface="Radley" panose="020B0604020202020204" charset="0"/>
                <a:ea typeface="Open Sans"/>
                <a:cs typeface="Carlito" panose="020B0604020202020204" charset="0"/>
                <a:sym typeface="Open Sans"/>
              </a:rPr>
              <a:t> à jour les données sans recharger la page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8EDC45CC-A79B-E9E7-076C-D924F5DAD3BB}"/>
              </a:ext>
            </a:extLst>
          </p:cNvPr>
          <p:cNvSpPr txBox="1"/>
          <p:nvPr/>
        </p:nvSpPr>
        <p:spPr>
          <a:xfrm>
            <a:off x="5144108" y="635380"/>
            <a:ext cx="9072635" cy="1006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Technologies </a:t>
            </a:r>
            <a:r>
              <a:rPr lang="en-US" sz="7000" dirty="0" err="1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utilises</a:t>
            </a:r>
            <a:endParaRPr lang="en-US" sz="7200" dirty="0">
              <a:solidFill>
                <a:srgbClr val="000000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46BA3DF4-0E34-983C-70E5-E351FFDEB7BB}"/>
              </a:ext>
            </a:extLst>
          </p:cNvPr>
          <p:cNvGrpSpPr/>
          <p:nvPr/>
        </p:nvGrpSpPr>
        <p:grpSpPr>
          <a:xfrm>
            <a:off x="5938765" y="1670037"/>
            <a:ext cx="7073239" cy="702102"/>
            <a:chOff x="0" y="2546772"/>
            <a:chExt cx="9430985" cy="936136"/>
          </a:xfrm>
        </p:grpSpPr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A197DAAF-E84A-D7C5-8705-7C21854413BA}"/>
                </a:ext>
              </a:extLst>
            </p:cNvPr>
            <p:cNvSpPr txBox="1"/>
            <p:nvPr/>
          </p:nvSpPr>
          <p:spPr>
            <a:xfrm>
              <a:off x="25753" y="2930862"/>
              <a:ext cx="9405232" cy="55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id="{1EAB2908-0B09-5F79-383C-2503158C6BF4}"/>
                </a:ext>
              </a:extLst>
            </p:cNvPr>
            <p:cNvSpPr/>
            <p:nvPr/>
          </p:nvSpPr>
          <p:spPr>
            <a:xfrm>
              <a:off x="0" y="2546772"/>
              <a:ext cx="9405232" cy="0"/>
            </a:xfrm>
            <a:prstGeom prst="line">
              <a:avLst/>
            </a:prstGeom>
            <a:ln w="20074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7">
            <a:extLst>
              <a:ext uri="{FF2B5EF4-FFF2-40B4-BE49-F238E27FC236}">
                <a16:creationId xmlns:a16="http://schemas.microsoft.com/office/drawing/2014/main" id="{50BE5131-8608-87F8-4C25-66EE31DE7795}"/>
              </a:ext>
            </a:extLst>
          </p:cNvPr>
          <p:cNvGrpSpPr/>
          <p:nvPr/>
        </p:nvGrpSpPr>
        <p:grpSpPr>
          <a:xfrm>
            <a:off x="-1085865" y="-205807"/>
            <a:ext cx="2171730" cy="2205796"/>
            <a:chOff x="0" y="0"/>
            <a:chExt cx="812800" cy="825500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EFB6F54A-76CD-3C87-918C-18B69C160A67}"/>
                </a:ext>
              </a:extLst>
            </p:cNvPr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24BF8285-6E07-0F19-8C27-C18D55CE577D}"/>
                </a:ext>
              </a:extLst>
            </p:cNvPr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7132" y="277451"/>
            <a:ext cx="14770992" cy="9016907"/>
            <a:chOff x="445311" y="-345127"/>
            <a:chExt cx="19694657" cy="12022543"/>
          </a:xfrm>
        </p:grpSpPr>
        <p:sp>
          <p:nvSpPr>
            <p:cNvPr id="3" name="TextBox 3"/>
            <p:cNvSpPr txBox="1"/>
            <p:nvPr/>
          </p:nvSpPr>
          <p:spPr>
            <a:xfrm>
              <a:off x="7427269" y="-345127"/>
              <a:ext cx="9614826" cy="13584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840"/>
                </a:lnSpc>
                <a:spcBef>
                  <a:spcPct val="0"/>
                </a:spcBef>
              </a:pPr>
              <a:r>
                <a:rPr lang="en-US" sz="7000" dirty="0">
                  <a:solidFill>
                    <a:srgbClr val="000000"/>
                  </a:solidFill>
                  <a:latin typeface="Radley" panose="020B0604020202020204" charset="0"/>
                  <a:ea typeface="Radley Italics"/>
                  <a:cs typeface="Carlito" panose="020B0604020202020204" charset="0"/>
                  <a:sym typeface="Radley Italics"/>
                </a:rPr>
                <a:t>Conclusion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48969" y="1608381"/>
              <a:ext cx="16890999" cy="7091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3499" u="none" dirty="0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Explore the library website to find your next great read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5496869" y="2790138"/>
              <a:ext cx="9614826" cy="0"/>
            </a:xfrm>
            <a:prstGeom prst="line">
              <a:avLst/>
            </a:prstGeom>
            <a:ln w="254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311" y="4022157"/>
              <a:ext cx="13116870" cy="76552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960"/>
                </a:lnSpc>
              </a:pP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En conclusion, le site de gestion de bibliothèque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représente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une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solution numérique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moderne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et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performante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.</a:t>
              </a:r>
            </a:p>
            <a:p>
              <a:pPr algn="l">
                <a:lnSpc>
                  <a:spcPts val="3960"/>
                </a:lnSpc>
              </a:pP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Grâce à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l’utilisation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des technologies HTML, CSS et JavaScript, il assure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une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interface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claire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, interactive et facile à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utiliser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.</a:t>
              </a:r>
            </a:p>
            <a:p>
              <a:pPr algn="l">
                <a:lnSpc>
                  <a:spcPts val="4265"/>
                </a:lnSpc>
              </a:pPr>
              <a:r>
                <a:rPr lang="en-US" sz="3554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Ce </a:t>
              </a:r>
              <a:r>
                <a:rPr lang="en-US" sz="3554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système</a:t>
              </a:r>
              <a:r>
                <a:rPr lang="en-US" sz="3554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</a:t>
              </a:r>
              <a:r>
                <a:rPr lang="en-US" sz="3554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permet</a:t>
              </a:r>
              <a:r>
                <a:rPr lang="en-US" sz="3554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</a:t>
              </a:r>
              <a:r>
                <a:rPr lang="en-US" sz="3554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une</a:t>
              </a:r>
              <a:r>
                <a:rPr lang="en-US" sz="3554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gestion </a:t>
              </a:r>
              <a:r>
                <a:rPr lang="en-US" sz="3554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efficace</a:t>
              </a:r>
              <a:r>
                <a:rPr lang="en-US" sz="3554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des livres, des </a:t>
              </a:r>
              <a:r>
                <a:rPr lang="en-US" sz="3554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adhérents</a:t>
              </a:r>
              <a:r>
                <a:rPr lang="en-US" sz="3554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, des </a:t>
              </a:r>
              <a:r>
                <a:rPr lang="en-US" sz="3554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emprunts</a:t>
              </a:r>
              <a:r>
                <a:rPr lang="en-US" sz="3554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et des </a:t>
              </a:r>
              <a:r>
                <a:rPr lang="en-US" sz="3554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catégories</a:t>
              </a:r>
              <a:r>
                <a:rPr lang="en-US" sz="3554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, tout </a:t>
              </a:r>
              <a:r>
                <a:rPr lang="en-US" sz="3554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en</a:t>
              </a:r>
              <a:r>
                <a:rPr lang="en-US" sz="3554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</a:t>
              </a:r>
              <a:r>
                <a:rPr lang="en-US" sz="3554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optimisant</a:t>
              </a:r>
              <a:r>
                <a:rPr lang="en-US" sz="3554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le temps et </a:t>
              </a:r>
              <a:r>
                <a:rPr lang="en-US" sz="3554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l’organisation</a:t>
              </a:r>
              <a:r>
                <a:rPr lang="en-US" sz="3554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.</a:t>
              </a:r>
            </a:p>
            <a:p>
              <a:pPr marL="0" lvl="0" indent="0" algn="l">
                <a:lnSpc>
                  <a:spcPts val="3960"/>
                </a:lnSpc>
              </a:pP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Il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contribue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ainsi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à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améliorer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la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qualité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des services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offerts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et à </a:t>
              </a:r>
              <a:r>
                <a:rPr lang="en-US" sz="3300" dirty="0" err="1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moderniser</a:t>
              </a:r>
              <a:r>
                <a:rPr lang="en-US" sz="3300" dirty="0">
                  <a:solidFill>
                    <a:srgbClr val="000000"/>
                  </a:solidFill>
                  <a:latin typeface="Radley" panose="020B0604020202020204" charset="0"/>
                  <a:ea typeface="Carlito"/>
                  <a:cs typeface="Carlito" panose="020B0604020202020204" charset="0"/>
                  <a:sym typeface="Carlito"/>
                </a:rPr>
                <a:t> la bibliothèque.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0820400" y="3238505"/>
            <a:ext cx="7187481" cy="6055854"/>
          </a:xfrm>
          <a:prstGeom prst="roundRect">
            <a:avLst/>
          </a:prstGeom>
          <a:blipFill>
            <a:blip r:embed="rId2"/>
            <a:stretch>
              <a:fillRect l="-16656" t="-40599" r="-114146" b="-77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EAD07559-94E8-636E-E1ED-448709FD8F92}"/>
              </a:ext>
            </a:extLst>
          </p:cNvPr>
          <p:cNvGrpSpPr/>
          <p:nvPr/>
        </p:nvGrpSpPr>
        <p:grpSpPr>
          <a:xfrm>
            <a:off x="4953000" y="1332245"/>
            <a:ext cx="7073239" cy="702102"/>
            <a:chOff x="0" y="2546772"/>
            <a:chExt cx="9430985" cy="936136"/>
          </a:xfrm>
        </p:grpSpPr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4EE20FD5-52C8-90A6-F5B1-C932B2BE7049}"/>
                </a:ext>
              </a:extLst>
            </p:cNvPr>
            <p:cNvSpPr txBox="1"/>
            <p:nvPr/>
          </p:nvSpPr>
          <p:spPr>
            <a:xfrm>
              <a:off x="25753" y="2930862"/>
              <a:ext cx="9405232" cy="55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4" name="AutoShape 7">
              <a:extLst>
                <a:ext uri="{FF2B5EF4-FFF2-40B4-BE49-F238E27FC236}">
                  <a16:creationId xmlns:a16="http://schemas.microsoft.com/office/drawing/2014/main" id="{F6FFEF64-75BD-5566-DC1D-B0A45420820F}"/>
                </a:ext>
              </a:extLst>
            </p:cNvPr>
            <p:cNvSpPr/>
            <p:nvPr/>
          </p:nvSpPr>
          <p:spPr>
            <a:xfrm>
              <a:off x="0" y="2546772"/>
              <a:ext cx="9405232" cy="0"/>
            </a:xfrm>
            <a:prstGeom prst="line">
              <a:avLst/>
            </a:prstGeom>
            <a:ln w="20074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7">
            <a:extLst>
              <a:ext uri="{FF2B5EF4-FFF2-40B4-BE49-F238E27FC236}">
                <a16:creationId xmlns:a16="http://schemas.microsoft.com/office/drawing/2014/main" id="{6DAAD2F2-BD1B-B19B-FA83-8A1D9332DC45}"/>
              </a:ext>
            </a:extLst>
          </p:cNvPr>
          <p:cNvGrpSpPr/>
          <p:nvPr/>
        </p:nvGrpSpPr>
        <p:grpSpPr>
          <a:xfrm>
            <a:off x="-1085865" y="-205807"/>
            <a:ext cx="2171730" cy="2205796"/>
            <a:chOff x="0" y="0"/>
            <a:chExt cx="812800" cy="825500"/>
          </a:xfrm>
        </p:grpSpPr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BA1FA69-9423-129E-EF28-E7C747129CAE}"/>
                </a:ext>
              </a:extLst>
            </p:cNvPr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FB95C823-1FBD-541B-DE9C-4EC5E482C14B}"/>
                </a:ext>
              </a:extLst>
            </p:cNvPr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580</Words>
  <Application>Microsoft Office PowerPoint</Application>
  <PresentationFormat>Personnalisé</PresentationFormat>
  <Paragraphs>96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Radley</vt:lpstr>
      <vt:lpstr>Aptos</vt:lpstr>
      <vt:lpstr>Arial</vt:lpstr>
      <vt:lpstr>Open Sans</vt:lpstr>
      <vt:lpstr>Carlito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- Library Website</dc:title>
  <dc:creator>123</dc:creator>
  <dc:description>Présentation - Library Website</dc:description>
  <cp:lastModifiedBy>sara rarra</cp:lastModifiedBy>
  <cp:revision>4</cp:revision>
  <dcterms:created xsi:type="dcterms:W3CDTF">2006-08-16T00:00:00Z</dcterms:created>
  <dcterms:modified xsi:type="dcterms:W3CDTF">2026-01-04T23:27:39Z</dcterms:modified>
  <dc:identifier>DAG9dAimWSw</dc:identifier>
</cp:coreProperties>
</file>